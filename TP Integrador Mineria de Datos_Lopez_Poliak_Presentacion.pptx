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gNwr1MexbZrVZWt6PQ7q3ccSGU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B63"/>
          </a:solidFill>
          <a:ln cap="flat" cmpd="sng" w="9525">
            <a:solidFill>
              <a:srgbClr val="006B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0" y="109728"/>
            <a:ext cx="411480" cy="6638544"/>
          </a:xfrm>
          <a:prstGeom prst="rect">
            <a:avLst/>
          </a:prstGeom>
          <a:solidFill>
            <a:srgbClr val="00877D"/>
          </a:solidFill>
          <a:ln cap="flat" cmpd="sng" w="9525">
            <a:solidFill>
              <a:srgbClr val="00877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411480" y="109728"/>
            <a:ext cx="54864" cy="6638544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85800" y="32004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B004"/>
                </a:solidFill>
                <a:latin typeface="Calibri"/>
                <a:ea typeface="Calibri"/>
                <a:cs typeface="Calibri"/>
                <a:sym typeface="Calibri"/>
              </a:rPr>
              <a:t>UNIVERSIDAD CAECE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85800" y="80467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Maestría en Ciencia de Datos e Innovación Empresarial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685800" y="1188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Minería de Datos Empresariales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685800" y="1627632"/>
            <a:ext cx="9601200" cy="36576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685800" y="178308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Trabajo Práctico Integrador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685800" y="2331720"/>
            <a:ext cx="9875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Captación de Clientes Bancarios</a:t>
            </a:r>
            <a:b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mediante Modelos Predictivos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685800" y="4160520"/>
            <a:ext cx="5029200" cy="1417320"/>
          </a:xfrm>
          <a:prstGeom prst="rect">
            <a:avLst/>
          </a:prstGeom>
          <a:solidFill>
            <a:srgbClr val="00877D"/>
          </a:solidFill>
          <a:ln cap="flat" cmpd="sng" w="9525">
            <a:solidFill>
              <a:srgbClr val="00877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685800" y="4160520"/>
            <a:ext cx="54864" cy="1417320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914400" y="42519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B004"/>
                </a:solidFill>
                <a:latin typeface="Calibri"/>
                <a:ea typeface="Calibri"/>
                <a:cs typeface="Calibri"/>
                <a:sym typeface="Calibri"/>
              </a:rPr>
              <a:t>Autoras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914400" y="457200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Lic. Lorena López  ·  Lic. Gisela Poliak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914400" y="49834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Docentes: Lic. Juan Azcurra  ·  Lic. Pablo Paul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914400" y="53492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B8"/>
                </a:solidFill>
                <a:latin typeface="Calibri"/>
                <a:ea typeface="Calibri"/>
                <a:cs typeface="Calibri"/>
                <a:sym typeface="Calibri"/>
              </a:rPr>
              <a:t>Mayo 2026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7315200" y="4160520"/>
            <a:ext cx="4297680" cy="1417320"/>
          </a:xfrm>
          <a:prstGeom prst="rect">
            <a:avLst/>
          </a:prstGeom>
          <a:solidFill>
            <a:srgbClr val="162050"/>
          </a:solidFill>
          <a:ln cap="flat" cmpd="sng" w="9525">
            <a:solidFill>
              <a:srgbClr val="1620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7315200" y="4160520"/>
            <a:ext cx="54864" cy="1417320"/>
          </a:xfrm>
          <a:prstGeom prst="rect">
            <a:avLst/>
          </a:prstGeom>
          <a:solidFill>
            <a:srgbClr val="1A7A4A"/>
          </a:solidFill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7498079" y="42519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7498079" y="45720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Bank Marketing · UCI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7498079" y="4956048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49.732 registros · 17 variables · 2 clases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7498079" y="53675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8094A8"/>
                </a:solidFill>
                <a:latin typeface="Calibri"/>
                <a:ea typeface="Calibri"/>
                <a:cs typeface="Calibri"/>
                <a:sym typeface="Calibri"/>
              </a:rPr>
              <a:t>Moro et al. (2014)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9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B63"/>
          </a:solidFill>
          <a:ln cap="flat" cmpd="sng" w="9525">
            <a:solidFill>
              <a:srgbClr val="006B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411480" y="201168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del Problema y Dataset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411480" y="658368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E8B004"/>
                </a:solidFill>
                <a:latin typeface="Calibri"/>
                <a:ea typeface="Calibri"/>
                <a:cs typeface="Calibri"/>
                <a:sym typeface="Calibri"/>
              </a:rPr>
              <a:t>UNIVERSIDAD CAECE  ·  Minería de Datos  ·  2026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320040" y="1234440"/>
            <a:ext cx="5303520" cy="5120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320040" y="1234440"/>
            <a:ext cx="109728" cy="5120640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548640" y="13716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Problema de Negocio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548640" y="1847088"/>
            <a:ext cx="484632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Una entidad bancaria ejecuta campañas de telemarketing</a:t>
            </a:r>
            <a:b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para captar clientes en depósitos a plazo.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1A2E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El 88% de los contactos no convierte → llamadas</a:t>
            </a:r>
            <a:b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ineficientes y presupuesto desperdiciado.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1A2E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Objetivo: construir un modelo predictivo que permita</a:t>
            </a:r>
            <a:b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identificar qué clientes tienen mayor probabilidad de</a:t>
            </a:r>
            <a:b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conversión ANTES de realizar el contacto.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1A2E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▶  Decisión de negocio basada en datos,</a:t>
            </a:r>
            <a:b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    no en criterios subjetivos.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5943600" y="1234440"/>
            <a:ext cx="5925312" cy="5120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5943600" y="1234440"/>
            <a:ext cx="109728" cy="5120640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6172200" y="137160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Descripción del Dataset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6172200" y="1920240"/>
            <a:ext cx="5394960" cy="804672"/>
          </a:xfrm>
          <a:prstGeom prst="rect">
            <a:avLst/>
          </a:prstGeom>
          <a:solidFill>
            <a:srgbClr val="F0FAF9"/>
          </a:solidFill>
          <a:ln cap="flat" cmpd="sng" w="9525">
            <a:solidFill>
              <a:srgbClr val="F0FA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6172200" y="1920240"/>
            <a:ext cx="54864" cy="804672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6355080" y="1956816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A89C"/>
                </a:solidFill>
                <a:latin typeface="Calibri"/>
                <a:ea typeface="Calibri"/>
                <a:cs typeface="Calibri"/>
                <a:sym typeface="Calibri"/>
              </a:rPr>
              <a:t>49.732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6355080" y="2340864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registros totales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6172200" y="2871216"/>
            <a:ext cx="5394960" cy="804672"/>
          </a:xfrm>
          <a:prstGeom prst="rect">
            <a:avLst/>
          </a:prstGeom>
          <a:solidFill>
            <a:srgbClr val="F0FAF9"/>
          </a:solidFill>
          <a:ln cap="flat" cmpd="sng" w="9525">
            <a:solidFill>
              <a:srgbClr val="F0FA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6172200" y="2871216"/>
            <a:ext cx="54864" cy="804672"/>
          </a:xfrm>
          <a:prstGeom prst="rect">
            <a:avLst/>
          </a:prstGeom>
          <a:solidFill>
            <a:srgbClr val="006B63"/>
          </a:solidFill>
          <a:ln cap="flat" cmpd="sng" w="9525">
            <a:solidFill>
              <a:srgbClr val="006B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6355080" y="2907792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6355080" y="329184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variables (7 numéricas, 10 categóricas)</a:t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6172200" y="3822191"/>
            <a:ext cx="5394960" cy="804672"/>
          </a:xfrm>
          <a:prstGeom prst="rect">
            <a:avLst/>
          </a:prstGeom>
          <a:solidFill>
            <a:srgbClr val="F0FAF9"/>
          </a:solidFill>
          <a:ln cap="flat" cmpd="sng" w="9525">
            <a:solidFill>
              <a:srgbClr val="F0FA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6172200" y="3822191"/>
            <a:ext cx="54864" cy="804672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6355080" y="385876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88 / 12 %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6355080" y="4242816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clases No / Sí (desbalance severo)</a:t>
            </a:r>
            <a:endParaRPr/>
          </a:p>
        </p:txBody>
      </p:sp>
      <p:sp>
        <p:nvSpPr>
          <p:cNvPr id="134" name="Google Shape;134;p2"/>
          <p:cNvSpPr/>
          <p:nvPr/>
        </p:nvSpPr>
        <p:spPr>
          <a:xfrm>
            <a:off x="6172200" y="4773168"/>
            <a:ext cx="5394960" cy="804672"/>
          </a:xfrm>
          <a:prstGeom prst="rect">
            <a:avLst/>
          </a:prstGeom>
          <a:solidFill>
            <a:srgbClr val="F0FAF9"/>
          </a:solidFill>
          <a:ln cap="flat" cmpd="sng" w="9525">
            <a:solidFill>
              <a:srgbClr val="F0FA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172200" y="4773168"/>
            <a:ext cx="54864" cy="804672"/>
          </a:xfrm>
          <a:prstGeom prst="rect">
            <a:avLst/>
          </a:prstGeom>
          <a:solidFill>
            <a:srgbClr val="1A7A4A"/>
          </a:solidFill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6355080" y="4809744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70 / 30 %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6355080" y="519379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split train / test (estratificado)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6172200" y="612648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5C7A78"/>
                </a:solidFill>
                <a:latin typeface="Calibri"/>
                <a:ea typeface="Calibri"/>
                <a:cs typeface="Calibri"/>
                <a:sym typeface="Calibri"/>
              </a:rPr>
              <a:t>Fuente: Moro et al. (2014) · UCI Machine Learning Repository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9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B63"/>
          </a:solidFill>
          <a:ln cap="flat" cmpd="sng" w="9525">
            <a:solidFill>
              <a:srgbClr val="006B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411480" y="20116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Exploración y Análisis de Datos (EDA)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411480" y="658368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E8B004"/>
                </a:solidFill>
                <a:latin typeface="Calibri"/>
                <a:ea typeface="Calibri"/>
                <a:cs typeface="Calibri"/>
                <a:sym typeface="Calibri"/>
              </a:rPr>
              <a:t>UNIVERSIDAD CAECE  ·  Minería de Datos  ·  2026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274320" y="1234440"/>
            <a:ext cx="3794760" cy="5166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274320" y="1234440"/>
            <a:ext cx="109728" cy="5166360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 txBox="1"/>
          <p:nvPr/>
        </p:nvSpPr>
        <p:spPr>
          <a:xfrm>
            <a:off x="502920" y="13716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A89C"/>
                </a:solidFill>
                <a:latin typeface="Calibri"/>
                <a:ea typeface="Calibri"/>
                <a:cs typeface="Calibri"/>
                <a:sym typeface="Calibri"/>
              </a:rPr>
              <a:t>Desbalance de Clases</a:t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502920" y="1874519"/>
            <a:ext cx="3337560" cy="36576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502920" y="2011680"/>
            <a:ext cx="342900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88.2% No → 11.8% Sí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1A2E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Clasificadores estándar sin ajuste predecirían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siempre 'No' con 88% de accuracy ficticio.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1A2E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Solución: class_weight='balanced'</a:t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4315968" y="1234440"/>
            <a:ext cx="3794760" cy="5166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4315968" y="1234440"/>
            <a:ext cx="109728" cy="5166360"/>
          </a:xfrm>
          <a:prstGeom prst="rect">
            <a:avLst/>
          </a:prstGeom>
          <a:solidFill>
            <a:srgbClr val="1A7A4A"/>
          </a:solidFill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4544568" y="13716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Variable duration (Data Leakage)</a:t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4544568" y="1874519"/>
            <a:ext cx="3337560" cy="36576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4544568" y="2011680"/>
            <a:ext cx="342900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La duración de la llamada solo se conoce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luego de realizarla → no usable en producción.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1A2E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Decisión crítica: eliminada del pipeline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antes del entrenamiento.</a:t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8357616" y="1234440"/>
            <a:ext cx="3794760" cy="5166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8357616" y="1234440"/>
            <a:ext cx="109728" cy="5166360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8586216" y="13716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B004"/>
                </a:solidFill>
                <a:latin typeface="Calibri"/>
                <a:ea typeface="Calibri"/>
                <a:cs typeface="Calibri"/>
                <a:sym typeface="Calibri"/>
              </a:rPr>
              <a:t>Valores 'Unknown'</a:t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8586216" y="1874519"/>
            <a:ext cx="3337560" cy="36576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8586216" y="2011680"/>
            <a:ext cx="342900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Presentes en: poutcome (82%), contact (29%),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education (4%), job (0.8%).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1A2E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Tratamiento: conservados como categoría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informativa (no se imputan).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9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B63"/>
          </a:solidFill>
          <a:ln cap="flat" cmpd="sng" w="9525">
            <a:solidFill>
              <a:srgbClr val="006B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411480" y="20116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de Preparación y Modelado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411480" y="658368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E8B004"/>
                </a:solidFill>
                <a:latin typeface="Calibri"/>
                <a:ea typeface="Calibri"/>
                <a:cs typeface="Calibri"/>
                <a:sym typeface="Calibri"/>
              </a:rPr>
              <a:t>UNIVERSIDAD CAECE  ·  Minería de Datos  ·  2026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274320" y="1188720"/>
            <a:ext cx="3840480" cy="2606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274320" y="1188720"/>
            <a:ext cx="475488" cy="2606040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338328" y="2011680"/>
            <a:ext cx="365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868680" y="135331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A89C"/>
                </a:solidFill>
                <a:latin typeface="Calibri"/>
                <a:ea typeface="Calibri"/>
                <a:cs typeface="Calibri"/>
                <a:sym typeface="Calibri"/>
              </a:rPr>
              <a:t>Carga &amp; Unificación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868680" y="1783080"/>
            <a:ext cx="3108960" cy="36576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868680" y="1901952"/>
            <a:ext cx="31089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Archivos banca_train.csv + banca_test.csv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(bancaV1_actualizado.csv · 49.732 filas)</a:t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4224528" y="1188720"/>
            <a:ext cx="3840480" cy="2606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4224528" y="1188720"/>
            <a:ext cx="475488" cy="2606040"/>
          </a:xfrm>
          <a:prstGeom prst="rect">
            <a:avLst/>
          </a:prstGeom>
          <a:solidFill>
            <a:srgbClr val="006B63"/>
          </a:solidFill>
          <a:ln cap="flat" cmpd="sng" w="9525">
            <a:solidFill>
              <a:srgbClr val="006B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4288536" y="2011680"/>
            <a:ext cx="365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4818888" y="135331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Tratamiento Missing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4818888" y="1783080"/>
            <a:ext cx="3108960" cy="36576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4818888" y="1901952"/>
            <a:ext cx="31089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Unknown en poutcome/contact → categoría válida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job/education → imputación condicionada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8174736" y="1188720"/>
            <a:ext cx="3840480" cy="2606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8174736" y="1188720"/>
            <a:ext cx="475488" cy="2606040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8238744" y="2011680"/>
            <a:ext cx="365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8769096" y="135331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B004"/>
                </a:solidFill>
                <a:latin typeface="Calibri"/>
                <a:ea typeface="Calibri"/>
                <a:cs typeface="Calibri"/>
                <a:sym typeface="Calibri"/>
              </a:rPr>
              <a:t>Remoción Data Leakage</a:t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8769096" y="1783080"/>
            <a:ext cx="3108960" cy="36576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8769096" y="1901952"/>
            <a:ext cx="31089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Eliminación de duration (solo disponible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tras el contacto → no predictiva en producción)</a:t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274320" y="3904488"/>
            <a:ext cx="3840480" cy="2606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274320" y="3904488"/>
            <a:ext cx="475488" cy="2606040"/>
          </a:xfrm>
          <a:prstGeom prst="rect">
            <a:avLst/>
          </a:prstGeom>
          <a:solidFill>
            <a:srgbClr val="1A7A4A"/>
          </a:solidFill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338328" y="4727448"/>
            <a:ext cx="365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868680" y="40690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Codificación OHE</a:t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868680" y="4498848"/>
            <a:ext cx="3108960" cy="36576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868680" y="4617720"/>
            <a:ext cx="31089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pd.get_dummies() en variables nominales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Train+Test concatenados → columnas idénticas</a:t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4224528" y="3904488"/>
            <a:ext cx="3840480" cy="2606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4224528" y="3904488"/>
            <a:ext cx="475488" cy="2606040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4288536" y="4727448"/>
            <a:ext cx="365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4818888" y="40690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A89C"/>
                </a:solidFill>
                <a:latin typeface="Calibri"/>
                <a:ea typeface="Calibri"/>
                <a:cs typeface="Calibri"/>
                <a:sym typeface="Calibri"/>
              </a:rPr>
              <a:t>Train/Test Split</a:t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4818888" y="4498848"/>
            <a:ext cx="3108960" cy="36576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4818888" y="4617720"/>
            <a:ext cx="31089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70/30 · random_state=42 · stratify=y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Conserva proporción de clases en ambas particiones</a:t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8174736" y="3904488"/>
            <a:ext cx="3840480" cy="2606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8174736" y="3904488"/>
            <a:ext cx="475488" cy="260604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 txBox="1"/>
          <p:nvPr/>
        </p:nvSpPr>
        <p:spPr>
          <a:xfrm>
            <a:off x="8238744" y="4727448"/>
            <a:ext cx="365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8769096" y="40690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Entrenamiento Modelos</a:t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8769096" y="4498848"/>
            <a:ext cx="3108960" cy="36576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8769096" y="4617720"/>
            <a:ext cx="31089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CART: max_depth=5, min_samples_leaf=20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RF: 100 árboles, mismos hiperparámetros base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9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B63"/>
          </a:solidFill>
          <a:ln cap="flat" cmpd="sng" w="9525">
            <a:solidFill>
              <a:srgbClr val="006B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411480" y="20116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Modelos Implementados: CART vs Random Forest</a:t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411480" y="658368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E8B004"/>
                </a:solidFill>
                <a:latin typeface="Calibri"/>
                <a:ea typeface="Calibri"/>
                <a:cs typeface="Calibri"/>
                <a:sym typeface="Calibri"/>
              </a:rPr>
              <a:t>UNIVERSIDAD CAECE  ·  Minería de Datos  ·  2026</a:t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274320" y="1234440"/>
            <a:ext cx="5577840" cy="5166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274320" y="1234440"/>
            <a:ext cx="109728" cy="5166360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5029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A89C"/>
                </a:solidFill>
                <a:latin typeface="Calibri"/>
                <a:ea typeface="Calibri"/>
                <a:cs typeface="Calibri"/>
                <a:sym typeface="Calibri"/>
              </a:rPr>
              <a:t>Árbol de Decisión (CART)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502920" y="181051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C7A78"/>
                </a:solidFill>
                <a:latin typeface="Calibri"/>
                <a:ea typeface="Calibri"/>
                <a:cs typeface="Calibri"/>
                <a:sym typeface="Calibri"/>
              </a:rPr>
              <a:t>Modelo individual · Criterio: Gini</a:t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502920" y="2267712"/>
            <a:ext cx="5166360" cy="658368"/>
          </a:xfrm>
          <a:prstGeom prst="rect">
            <a:avLst/>
          </a:prstGeom>
          <a:solidFill>
            <a:srgbClr val="F0FAF9"/>
          </a:solidFill>
          <a:ln cap="flat" cmpd="sng" w="9525">
            <a:solidFill>
              <a:srgbClr val="F0FA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502920" y="2267712"/>
            <a:ext cx="45720" cy="658368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658368" y="2313432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max_depth = 5</a:t>
            </a:r>
            <a:endParaRPr/>
          </a:p>
        </p:txBody>
      </p:sp>
      <p:sp>
        <p:nvSpPr>
          <p:cNvPr id="221" name="Google Shape;221;p5"/>
          <p:cNvSpPr txBox="1"/>
          <p:nvPr/>
        </p:nvSpPr>
        <p:spPr>
          <a:xfrm>
            <a:off x="658368" y="260604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C7A78"/>
                </a:solidFill>
                <a:latin typeface="Calibri"/>
                <a:ea typeface="Calibri"/>
                <a:cs typeface="Calibri"/>
                <a:sym typeface="Calibri"/>
              </a:rPr>
              <a:t>Limita profundidad → evita sobreajuste</a:t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502920" y="3017520"/>
            <a:ext cx="5166360" cy="658368"/>
          </a:xfrm>
          <a:prstGeom prst="rect">
            <a:avLst/>
          </a:prstGeom>
          <a:solidFill>
            <a:srgbClr val="F0FAF9"/>
          </a:solidFill>
          <a:ln cap="flat" cmpd="sng" w="9525">
            <a:solidFill>
              <a:srgbClr val="F0FA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502920" y="3017520"/>
            <a:ext cx="45720" cy="658368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658368" y="3063239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min_samples_leaf = 20</a:t>
            </a:r>
            <a:endParaRPr/>
          </a:p>
        </p:txBody>
      </p:sp>
      <p:sp>
        <p:nvSpPr>
          <p:cNvPr id="225" name="Google Shape;225;p5"/>
          <p:cNvSpPr txBox="1"/>
          <p:nvPr/>
        </p:nvSpPr>
        <p:spPr>
          <a:xfrm>
            <a:off x="658368" y="335584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C7A78"/>
                </a:solidFill>
                <a:latin typeface="Calibri"/>
                <a:ea typeface="Calibri"/>
                <a:cs typeface="Calibri"/>
                <a:sym typeface="Calibri"/>
              </a:rPr>
              <a:t>Mínimo de muestras por hoja terminal</a:t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502920" y="3767328"/>
            <a:ext cx="5166360" cy="658368"/>
          </a:xfrm>
          <a:prstGeom prst="rect">
            <a:avLst/>
          </a:prstGeom>
          <a:solidFill>
            <a:srgbClr val="F0FAF9"/>
          </a:solidFill>
          <a:ln cap="flat" cmpd="sng" w="9525">
            <a:solidFill>
              <a:srgbClr val="F0FA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502920" y="3767328"/>
            <a:ext cx="45720" cy="658368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 txBox="1"/>
          <p:nvPr/>
        </p:nvSpPr>
        <p:spPr>
          <a:xfrm>
            <a:off x="658368" y="3813048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class_weight = 'balanced'</a:t>
            </a:r>
            <a:endParaRPr/>
          </a:p>
        </p:txBody>
      </p:sp>
      <p:sp>
        <p:nvSpPr>
          <p:cNvPr id="229" name="Google Shape;229;p5"/>
          <p:cNvSpPr txBox="1"/>
          <p:nvPr/>
        </p:nvSpPr>
        <p:spPr>
          <a:xfrm>
            <a:off x="658368" y="410565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C7A78"/>
                </a:solidFill>
                <a:latin typeface="Calibri"/>
                <a:ea typeface="Calibri"/>
                <a:cs typeface="Calibri"/>
                <a:sym typeface="Calibri"/>
              </a:rPr>
              <a:t>Pondera clase minoritaria (12%)</a:t>
            </a: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502920" y="4517136"/>
            <a:ext cx="5166360" cy="658368"/>
          </a:xfrm>
          <a:prstGeom prst="rect">
            <a:avLst/>
          </a:prstGeom>
          <a:solidFill>
            <a:srgbClr val="F0FAF9"/>
          </a:solidFill>
          <a:ln cap="flat" cmpd="sng" w="9525">
            <a:solidFill>
              <a:srgbClr val="F0FA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502920" y="4517136"/>
            <a:ext cx="45720" cy="658368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658368" y="4562856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Interpretabilidad alta</a:t>
            </a:r>
            <a:endParaRPr/>
          </a:p>
        </p:txBody>
      </p:sp>
      <p:sp>
        <p:nvSpPr>
          <p:cNvPr id="233" name="Google Shape;233;p5"/>
          <p:cNvSpPr txBox="1"/>
          <p:nvPr/>
        </p:nvSpPr>
        <p:spPr>
          <a:xfrm>
            <a:off x="658368" y="4855464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C7A78"/>
                </a:solidFill>
                <a:latin typeface="Calibri"/>
                <a:ea typeface="Calibri"/>
                <a:cs typeface="Calibri"/>
                <a:sym typeface="Calibri"/>
              </a:rPr>
              <a:t>Reglas de decisión legibles por negocio</a:t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6172200" y="1234440"/>
            <a:ext cx="5687568" cy="5166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6172200" y="1234440"/>
            <a:ext cx="109728" cy="5166360"/>
          </a:xfrm>
          <a:prstGeom prst="rect">
            <a:avLst/>
          </a:prstGeom>
          <a:solidFill>
            <a:srgbClr val="1A7A4A"/>
          </a:solidFill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6400800" y="137160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Random Forest (Ensamble)</a:t>
            </a:r>
            <a:endParaRPr/>
          </a:p>
        </p:txBody>
      </p:sp>
      <p:sp>
        <p:nvSpPr>
          <p:cNvPr id="237" name="Google Shape;237;p5"/>
          <p:cNvSpPr txBox="1"/>
          <p:nvPr/>
        </p:nvSpPr>
        <p:spPr>
          <a:xfrm>
            <a:off x="6400800" y="1810512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C7A78"/>
                </a:solidFill>
                <a:latin typeface="Calibri"/>
                <a:ea typeface="Calibri"/>
                <a:cs typeface="Calibri"/>
                <a:sym typeface="Calibri"/>
              </a:rPr>
              <a:t>100 árboles · mismos hiperparámetros base</a:t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6400800" y="2267712"/>
            <a:ext cx="5257800" cy="658368"/>
          </a:xfrm>
          <a:prstGeom prst="rect">
            <a:avLst/>
          </a:prstGeom>
          <a:solidFill>
            <a:srgbClr val="F0FAF9"/>
          </a:solidFill>
          <a:ln cap="flat" cmpd="sng" w="9525">
            <a:solidFill>
              <a:srgbClr val="F0FA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6400800" y="2267712"/>
            <a:ext cx="45720" cy="658368"/>
          </a:xfrm>
          <a:prstGeom prst="rect">
            <a:avLst/>
          </a:prstGeom>
          <a:solidFill>
            <a:srgbClr val="1A7A4A"/>
          </a:solidFill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6565392" y="231343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n_estimators = 100</a:t>
            </a:r>
            <a:endParaRPr/>
          </a:p>
        </p:txBody>
      </p:sp>
      <p:sp>
        <p:nvSpPr>
          <p:cNvPr id="241" name="Google Shape;241;p5"/>
          <p:cNvSpPr txBox="1"/>
          <p:nvPr/>
        </p:nvSpPr>
        <p:spPr>
          <a:xfrm>
            <a:off x="6565392" y="2606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C7A78"/>
                </a:solidFill>
                <a:latin typeface="Calibri"/>
                <a:ea typeface="Calibri"/>
                <a:cs typeface="Calibri"/>
                <a:sym typeface="Calibri"/>
              </a:rPr>
              <a:t>Cien árboles entrenados en submuestras distintas</a:t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6400800" y="3017520"/>
            <a:ext cx="5257800" cy="658368"/>
          </a:xfrm>
          <a:prstGeom prst="rect">
            <a:avLst/>
          </a:prstGeom>
          <a:solidFill>
            <a:srgbClr val="F0FAF9"/>
          </a:solidFill>
          <a:ln cap="flat" cmpd="sng" w="9525">
            <a:solidFill>
              <a:srgbClr val="F0FA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6400800" y="3017520"/>
            <a:ext cx="45720" cy="658368"/>
          </a:xfrm>
          <a:prstGeom prst="rect">
            <a:avLst/>
          </a:prstGeom>
          <a:solidFill>
            <a:srgbClr val="1A7A4A"/>
          </a:solidFill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 txBox="1"/>
          <p:nvPr/>
        </p:nvSpPr>
        <p:spPr>
          <a:xfrm>
            <a:off x="6565392" y="3063239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max_depth = 5</a:t>
            </a:r>
            <a:endParaRPr/>
          </a:p>
        </p:txBody>
      </p:sp>
      <p:sp>
        <p:nvSpPr>
          <p:cNvPr id="245" name="Google Shape;245;p5"/>
          <p:cNvSpPr txBox="1"/>
          <p:nvPr/>
        </p:nvSpPr>
        <p:spPr>
          <a:xfrm>
            <a:off x="6565392" y="335584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C7A78"/>
                </a:solidFill>
                <a:latin typeface="Calibri"/>
                <a:ea typeface="Calibri"/>
                <a:cs typeface="Calibri"/>
                <a:sym typeface="Calibri"/>
              </a:rPr>
              <a:t>Igual profundidad → comparación justa vs CART</a:t>
            </a: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6400800" y="3767328"/>
            <a:ext cx="5257800" cy="658368"/>
          </a:xfrm>
          <a:prstGeom prst="rect">
            <a:avLst/>
          </a:prstGeom>
          <a:solidFill>
            <a:srgbClr val="F0FAF9"/>
          </a:solidFill>
          <a:ln cap="flat" cmpd="sng" w="9525">
            <a:solidFill>
              <a:srgbClr val="F0FA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6400800" y="3767328"/>
            <a:ext cx="45720" cy="658368"/>
          </a:xfrm>
          <a:prstGeom prst="rect">
            <a:avLst/>
          </a:prstGeom>
          <a:solidFill>
            <a:srgbClr val="1A7A4A"/>
          </a:solidFill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 txBox="1"/>
          <p:nvPr/>
        </p:nvSpPr>
        <p:spPr>
          <a:xfrm>
            <a:off x="6565392" y="381304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Reducción de varianza</a:t>
            </a:r>
            <a:endParaRPr/>
          </a:p>
        </p:txBody>
      </p:sp>
      <p:sp>
        <p:nvSpPr>
          <p:cNvPr id="249" name="Google Shape;249;p5"/>
          <p:cNvSpPr txBox="1"/>
          <p:nvPr/>
        </p:nvSpPr>
        <p:spPr>
          <a:xfrm>
            <a:off x="6565392" y="410565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C7A78"/>
                </a:solidFill>
                <a:latin typeface="Calibri"/>
                <a:ea typeface="Calibri"/>
                <a:cs typeface="Calibri"/>
                <a:sym typeface="Calibri"/>
              </a:rPr>
              <a:t>Promedio de votos → menor sobreajuste</a:t>
            </a:r>
            <a:endParaRPr/>
          </a:p>
        </p:txBody>
      </p:sp>
      <p:sp>
        <p:nvSpPr>
          <p:cNvPr id="250" name="Google Shape;250;p5"/>
          <p:cNvSpPr/>
          <p:nvPr/>
        </p:nvSpPr>
        <p:spPr>
          <a:xfrm>
            <a:off x="6400800" y="4517136"/>
            <a:ext cx="5257800" cy="658368"/>
          </a:xfrm>
          <a:prstGeom prst="rect">
            <a:avLst/>
          </a:prstGeom>
          <a:solidFill>
            <a:srgbClr val="F0FAF9"/>
          </a:solidFill>
          <a:ln cap="flat" cmpd="sng" w="9525">
            <a:solidFill>
              <a:srgbClr val="F0FA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6400800" y="4517136"/>
            <a:ext cx="45720" cy="658368"/>
          </a:xfrm>
          <a:prstGeom prst="rect">
            <a:avLst/>
          </a:prstGeom>
          <a:solidFill>
            <a:srgbClr val="1A7A4A"/>
          </a:solidFill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 txBox="1"/>
          <p:nvPr/>
        </p:nvSpPr>
        <p:spPr>
          <a:xfrm>
            <a:off x="6565392" y="4562856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AUC superior +4pp</a:t>
            </a:r>
            <a:endParaRPr/>
          </a:p>
        </p:txBody>
      </p:sp>
      <p:sp>
        <p:nvSpPr>
          <p:cNvPr id="253" name="Google Shape;253;p5"/>
          <p:cNvSpPr txBox="1"/>
          <p:nvPr/>
        </p:nvSpPr>
        <p:spPr>
          <a:xfrm>
            <a:off x="6565392" y="48554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C7A78"/>
                </a:solidFill>
                <a:latin typeface="Calibri"/>
                <a:ea typeface="Calibri"/>
                <a:cs typeface="Calibri"/>
                <a:sym typeface="Calibri"/>
              </a:rPr>
              <a:t>0.7626 vs 0.7209 del árbol individual</a:t>
            </a:r>
            <a:endParaRPr/>
          </a:p>
        </p:txBody>
      </p:sp>
      <p:sp>
        <p:nvSpPr>
          <p:cNvPr id="254" name="Google Shape;254;p5"/>
          <p:cNvSpPr/>
          <p:nvPr/>
        </p:nvSpPr>
        <p:spPr>
          <a:xfrm>
            <a:off x="5961888" y="2286000"/>
            <a:ext cx="54864" cy="27432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 txBox="1"/>
          <p:nvPr/>
        </p:nvSpPr>
        <p:spPr>
          <a:xfrm>
            <a:off x="5888736" y="33375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C7A78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9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B63"/>
          </a:solidFill>
          <a:ln cap="flat" cmpd="sng" w="9525">
            <a:solidFill>
              <a:srgbClr val="006B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 txBox="1"/>
          <p:nvPr/>
        </p:nvSpPr>
        <p:spPr>
          <a:xfrm>
            <a:off x="411480" y="20116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y Evaluación de Modelos</a:t>
            </a:r>
            <a:endParaRPr/>
          </a:p>
        </p:txBody>
      </p:sp>
      <p:sp>
        <p:nvSpPr>
          <p:cNvPr id="263" name="Google Shape;263;p6"/>
          <p:cNvSpPr txBox="1"/>
          <p:nvPr/>
        </p:nvSpPr>
        <p:spPr>
          <a:xfrm>
            <a:off x="411480" y="658368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E8B004"/>
                </a:solidFill>
                <a:latin typeface="Calibri"/>
                <a:ea typeface="Calibri"/>
                <a:cs typeface="Calibri"/>
                <a:sym typeface="Calibri"/>
              </a:rPr>
              <a:t>UNIVERSIDAD CAECE  ·  Minería de Datos  ·  2026</a:t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274320" y="1188720"/>
            <a:ext cx="7589520" cy="457200"/>
          </a:xfrm>
          <a:prstGeom prst="rect">
            <a:avLst/>
          </a:prstGeom>
          <a:solidFill>
            <a:srgbClr val="006B63"/>
          </a:solidFill>
          <a:ln cap="flat" cmpd="sng" w="9525">
            <a:solidFill>
              <a:srgbClr val="006B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 txBox="1"/>
          <p:nvPr/>
        </p:nvSpPr>
        <p:spPr>
          <a:xfrm>
            <a:off x="347472" y="123444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</a:t>
            </a:r>
            <a:endParaRPr/>
          </a:p>
        </p:txBody>
      </p:sp>
      <p:sp>
        <p:nvSpPr>
          <p:cNvPr id="266" name="Google Shape;266;p6"/>
          <p:cNvSpPr txBox="1"/>
          <p:nvPr/>
        </p:nvSpPr>
        <p:spPr>
          <a:xfrm>
            <a:off x="3090672" y="123444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CART</a:t>
            </a:r>
            <a:endParaRPr/>
          </a:p>
        </p:txBody>
      </p:sp>
      <p:sp>
        <p:nvSpPr>
          <p:cNvPr id="267" name="Google Shape;267;p6"/>
          <p:cNvSpPr txBox="1"/>
          <p:nvPr/>
        </p:nvSpPr>
        <p:spPr>
          <a:xfrm>
            <a:off x="4553712" y="123444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/>
          </a:p>
        </p:txBody>
      </p:sp>
      <p:sp>
        <p:nvSpPr>
          <p:cNvPr id="268" name="Google Shape;268;p6"/>
          <p:cNvSpPr txBox="1"/>
          <p:nvPr/>
        </p:nvSpPr>
        <p:spPr>
          <a:xfrm>
            <a:off x="6382512" y="1234440"/>
            <a:ext cx="1463039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Mejor modelo</a:t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274320" y="1645920"/>
            <a:ext cx="2743200" cy="56692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347472" y="1755648"/>
            <a:ext cx="2633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</p:txBody>
      </p:sp>
      <p:sp>
        <p:nvSpPr>
          <p:cNvPr id="271" name="Google Shape;271;p6"/>
          <p:cNvSpPr/>
          <p:nvPr/>
        </p:nvSpPr>
        <p:spPr>
          <a:xfrm>
            <a:off x="3017520" y="1645920"/>
            <a:ext cx="1463040" cy="56692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 txBox="1"/>
          <p:nvPr/>
        </p:nvSpPr>
        <p:spPr>
          <a:xfrm>
            <a:off x="3090672" y="1755648"/>
            <a:ext cx="1353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0.7868</a:t>
            </a:r>
            <a:endParaRPr/>
          </a:p>
        </p:txBody>
      </p:sp>
      <p:sp>
        <p:nvSpPr>
          <p:cNvPr id="273" name="Google Shape;273;p6"/>
          <p:cNvSpPr/>
          <p:nvPr/>
        </p:nvSpPr>
        <p:spPr>
          <a:xfrm>
            <a:off x="4480560" y="1645920"/>
            <a:ext cx="1828800" cy="56692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 txBox="1"/>
          <p:nvPr/>
        </p:nvSpPr>
        <p:spPr>
          <a:xfrm>
            <a:off x="4553712" y="1755648"/>
            <a:ext cx="17190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0.7820</a:t>
            </a:r>
            <a:endParaRPr/>
          </a:p>
        </p:txBody>
      </p:sp>
      <p:sp>
        <p:nvSpPr>
          <p:cNvPr id="275" name="Google Shape;275;p6"/>
          <p:cNvSpPr/>
          <p:nvPr/>
        </p:nvSpPr>
        <p:spPr>
          <a:xfrm>
            <a:off x="6309360" y="1645920"/>
            <a:ext cx="1554480" cy="56692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 txBox="1"/>
          <p:nvPr/>
        </p:nvSpPr>
        <p:spPr>
          <a:xfrm>
            <a:off x="6382512" y="1755648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A89C"/>
                </a:solidFill>
                <a:latin typeface="Calibri"/>
                <a:ea typeface="Calibri"/>
                <a:cs typeface="Calibri"/>
                <a:sym typeface="Calibri"/>
              </a:rPr>
              <a:t>CART (+0.5pp)</a:t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274320" y="2212848"/>
            <a:ext cx="27432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 txBox="1"/>
          <p:nvPr/>
        </p:nvSpPr>
        <p:spPr>
          <a:xfrm>
            <a:off x="347472" y="2322576"/>
            <a:ext cx="2633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/>
          </a:p>
        </p:txBody>
      </p:sp>
      <p:sp>
        <p:nvSpPr>
          <p:cNvPr id="279" name="Google Shape;279;p6"/>
          <p:cNvSpPr/>
          <p:nvPr/>
        </p:nvSpPr>
        <p:spPr>
          <a:xfrm>
            <a:off x="3017520" y="2212848"/>
            <a:ext cx="146304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 txBox="1"/>
          <p:nvPr/>
        </p:nvSpPr>
        <p:spPr>
          <a:xfrm>
            <a:off x="3090672" y="2322576"/>
            <a:ext cx="1353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0.7209</a:t>
            </a:r>
            <a:endParaRPr/>
          </a:p>
        </p:txBody>
      </p:sp>
      <p:sp>
        <p:nvSpPr>
          <p:cNvPr id="281" name="Google Shape;281;p6"/>
          <p:cNvSpPr/>
          <p:nvPr/>
        </p:nvSpPr>
        <p:spPr>
          <a:xfrm>
            <a:off x="4480560" y="2212848"/>
            <a:ext cx="18288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 txBox="1"/>
          <p:nvPr/>
        </p:nvSpPr>
        <p:spPr>
          <a:xfrm>
            <a:off x="4553712" y="2322576"/>
            <a:ext cx="17190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0.7626</a:t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>
            <a:off x="6309360" y="2212848"/>
            <a:ext cx="155448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 txBox="1"/>
          <p:nvPr/>
        </p:nvSpPr>
        <p:spPr>
          <a:xfrm>
            <a:off x="6382512" y="2322576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RF (+4.2pp) ★</a:t>
            </a:r>
            <a:endParaRPr/>
          </a:p>
        </p:txBody>
      </p:sp>
      <p:sp>
        <p:nvSpPr>
          <p:cNvPr id="285" name="Google Shape;285;p6"/>
          <p:cNvSpPr/>
          <p:nvPr/>
        </p:nvSpPr>
        <p:spPr>
          <a:xfrm>
            <a:off x="274320" y="2779776"/>
            <a:ext cx="2743200" cy="56692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 txBox="1"/>
          <p:nvPr/>
        </p:nvSpPr>
        <p:spPr>
          <a:xfrm>
            <a:off x="347472" y="2889504"/>
            <a:ext cx="2633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Precision clase Sí</a:t>
            </a:r>
            <a:endParaRPr/>
          </a:p>
        </p:txBody>
      </p:sp>
      <p:sp>
        <p:nvSpPr>
          <p:cNvPr id="287" name="Google Shape;287;p6"/>
          <p:cNvSpPr/>
          <p:nvPr/>
        </p:nvSpPr>
        <p:spPr>
          <a:xfrm>
            <a:off x="3017520" y="2779776"/>
            <a:ext cx="1463040" cy="56692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 txBox="1"/>
          <p:nvPr/>
        </p:nvSpPr>
        <p:spPr>
          <a:xfrm>
            <a:off x="3090672" y="2889504"/>
            <a:ext cx="1353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0.28</a:t>
            </a:r>
            <a:endParaRPr/>
          </a:p>
        </p:txBody>
      </p:sp>
      <p:sp>
        <p:nvSpPr>
          <p:cNvPr id="289" name="Google Shape;289;p6"/>
          <p:cNvSpPr/>
          <p:nvPr/>
        </p:nvSpPr>
        <p:spPr>
          <a:xfrm>
            <a:off x="4480560" y="2779776"/>
            <a:ext cx="1828800" cy="56692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 txBox="1"/>
          <p:nvPr/>
        </p:nvSpPr>
        <p:spPr>
          <a:xfrm>
            <a:off x="4553712" y="2889504"/>
            <a:ext cx="17190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291" name="Google Shape;291;p6"/>
          <p:cNvSpPr/>
          <p:nvPr/>
        </p:nvSpPr>
        <p:spPr>
          <a:xfrm>
            <a:off x="6309360" y="2779776"/>
            <a:ext cx="1554480" cy="56692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 txBox="1"/>
          <p:nvPr/>
        </p:nvSpPr>
        <p:spPr>
          <a:xfrm>
            <a:off x="6382512" y="2889504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C7A7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274320" y="3346704"/>
            <a:ext cx="27432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 txBox="1"/>
          <p:nvPr/>
        </p:nvSpPr>
        <p:spPr>
          <a:xfrm>
            <a:off x="347472" y="3456432"/>
            <a:ext cx="2633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Recall clase Sí</a:t>
            </a: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3017520" y="3346704"/>
            <a:ext cx="146304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 txBox="1"/>
          <p:nvPr/>
        </p:nvSpPr>
        <p:spPr>
          <a:xfrm>
            <a:off x="3090672" y="3456432"/>
            <a:ext cx="1353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0.52</a:t>
            </a:r>
            <a:endParaRPr/>
          </a:p>
        </p:txBody>
      </p:sp>
      <p:sp>
        <p:nvSpPr>
          <p:cNvPr id="297" name="Google Shape;297;p6"/>
          <p:cNvSpPr/>
          <p:nvPr/>
        </p:nvSpPr>
        <p:spPr>
          <a:xfrm>
            <a:off x="4480560" y="3346704"/>
            <a:ext cx="18288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 txBox="1"/>
          <p:nvPr/>
        </p:nvSpPr>
        <p:spPr>
          <a:xfrm>
            <a:off x="4553712" y="3456432"/>
            <a:ext cx="17190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299" name="Google Shape;299;p6"/>
          <p:cNvSpPr/>
          <p:nvPr/>
        </p:nvSpPr>
        <p:spPr>
          <a:xfrm>
            <a:off x="6309360" y="3346704"/>
            <a:ext cx="155448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 txBox="1"/>
          <p:nvPr/>
        </p:nvSpPr>
        <p:spPr>
          <a:xfrm>
            <a:off x="6382512" y="3456432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C7A7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301" name="Google Shape;301;p6"/>
          <p:cNvSpPr/>
          <p:nvPr/>
        </p:nvSpPr>
        <p:spPr>
          <a:xfrm>
            <a:off x="274320" y="3913632"/>
            <a:ext cx="2743200" cy="56692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347472" y="4023360"/>
            <a:ext cx="2633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F1 clase Sí</a:t>
            </a: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3017520" y="3913632"/>
            <a:ext cx="1463040" cy="56692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 txBox="1"/>
          <p:nvPr/>
        </p:nvSpPr>
        <p:spPr>
          <a:xfrm>
            <a:off x="3090672" y="4023360"/>
            <a:ext cx="1353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0.36</a:t>
            </a:r>
            <a:endParaRPr/>
          </a:p>
        </p:txBody>
      </p:sp>
      <p:sp>
        <p:nvSpPr>
          <p:cNvPr id="305" name="Google Shape;305;p6"/>
          <p:cNvSpPr/>
          <p:nvPr/>
        </p:nvSpPr>
        <p:spPr>
          <a:xfrm>
            <a:off x="4480560" y="3913632"/>
            <a:ext cx="1828800" cy="56692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 txBox="1"/>
          <p:nvPr/>
        </p:nvSpPr>
        <p:spPr>
          <a:xfrm>
            <a:off x="4553712" y="4023360"/>
            <a:ext cx="17190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307" name="Google Shape;307;p6"/>
          <p:cNvSpPr/>
          <p:nvPr/>
        </p:nvSpPr>
        <p:spPr>
          <a:xfrm>
            <a:off x="6309360" y="3913632"/>
            <a:ext cx="1554480" cy="56692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 txBox="1"/>
          <p:nvPr/>
        </p:nvSpPr>
        <p:spPr>
          <a:xfrm>
            <a:off x="6382512" y="4023360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B004"/>
                </a:solidFill>
                <a:latin typeface="Calibri"/>
                <a:ea typeface="Calibri"/>
                <a:cs typeface="Calibri"/>
                <a:sym typeface="Calibri"/>
              </a:rPr>
              <a:t>RF (ver Colab)</a:t>
            </a:r>
            <a:endParaRPr/>
          </a:p>
        </p:txBody>
      </p:sp>
      <p:sp>
        <p:nvSpPr>
          <p:cNvPr id="309" name="Google Shape;309;p6"/>
          <p:cNvSpPr txBox="1"/>
          <p:nvPr/>
        </p:nvSpPr>
        <p:spPr>
          <a:xfrm>
            <a:off x="274320" y="5047488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5C7A78"/>
                </a:solidFill>
                <a:latin typeface="Calibri"/>
                <a:ea typeface="Calibri"/>
                <a:cs typeface="Calibri"/>
                <a:sym typeface="Calibri"/>
              </a:rPr>
              <a:t>★ El AUC es la métrica principal con clases desbalanceadas. Métricas de RF disponibles en Colab (Paso 23).</a:t>
            </a:r>
            <a:endParaRPr/>
          </a:p>
        </p:txBody>
      </p:sp>
      <p:sp>
        <p:nvSpPr>
          <p:cNvPr id="310" name="Google Shape;310;p6"/>
          <p:cNvSpPr/>
          <p:nvPr/>
        </p:nvSpPr>
        <p:spPr>
          <a:xfrm>
            <a:off x="8138160" y="1188720"/>
            <a:ext cx="3749039" cy="5029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8138160" y="1188720"/>
            <a:ext cx="91440" cy="5029200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 txBox="1"/>
          <p:nvPr/>
        </p:nvSpPr>
        <p:spPr>
          <a:xfrm>
            <a:off x="8321040" y="126187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Comparativa AUC-ROC</a:t>
            </a:r>
            <a:endParaRPr/>
          </a:p>
        </p:txBody>
      </p:sp>
      <p:sp>
        <p:nvSpPr>
          <p:cNvPr id="313" name="Google Shape;313;p6"/>
          <p:cNvSpPr/>
          <p:nvPr/>
        </p:nvSpPr>
        <p:spPr>
          <a:xfrm>
            <a:off x="8412480" y="2798594"/>
            <a:ext cx="1188720" cy="2504925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 txBox="1"/>
          <p:nvPr/>
        </p:nvSpPr>
        <p:spPr>
          <a:xfrm>
            <a:off x="8412480" y="2451122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A89C"/>
                </a:solidFill>
                <a:latin typeface="Calibri"/>
                <a:ea typeface="Calibri"/>
                <a:cs typeface="Calibri"/>
                <a:sym typeface="Calibri"/>
              </a:rPr>
              <a:t>0.7209</a:t>
            </a:r>
            <a:endParaRPr/>
          </a:p>
        </p:txBody>
      </p:sp>
      <p:sp>
        <p:nvSpPr>
          <p:cNvPr id="315" name="Google Shape;315;p6"/>
          <p:cNvSpPr txBox="1"/>
          <p:nvPr/>
        </p:nvSpPr>
        <p:spPr>
          <a:xfrm>
            <a:off x="8412480" y="53492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CART</a:t>
            </a:r>
            <a:endParaRPr/>
          </a:p>
        </p:txBody>
      </p:sp>
      <p:sp>
        <p:nvSpPr>
          <p:cNvPr id="316" name="Google Shape;316;p6"/>
          <p:cNvSpPr/>
          <p:nvPr/>
        </p:nvSpPr>
        <p:spPr>
          <a:xfrm>
            <a:off x="9966959" y="2653698"/>
            <a:ext cx="1188720" cy="2649821"/>
          </a:xfrm>
          <a:prstGeom prst="rect">
            <a:avLst/>
          </a:prstGeom>
          <a:solidFill>
            <a:srgbClr val="1A7A4A"/>
          </a:solidFill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 txBox="1"/>
          <p:nvPr/>
        </p:nvSpPr>
        <p:spPr>
          <a:xfrm>
            <a:off x="9966959" y="2306226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0.7626</a:t>
            </a:r>
            <a:endParaRPr/>
          </a:p>
        </p:txBody>
      </p:sp>
      <p:sp>
        <p:nvSpPr>
          <p:cNvPr id="318" name="Google Shape;318;p6"/>
          <p:cNvSpPr txBox="1"/>
          <p:nvPr/>
        </p:nvSpPr>
        <p:spPr>
          <a:xfrm>
            <a:off x="9966959" y="53492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RF</a:t>
            </a:r>
            <a:endParaRPr/>
          </a:p>
        </p:txBody>
      </p:sp>
      <p:sp>
        <p:nvSpPr>
          <p:cNvPr id="319" name="Google Shape;319;p6"/>
          <p:cNvSpPr/>
          <p:nvPr/>
        </p:nvSpPr>
        <p:spPr>
          <a:xfrm>
            <a:off x="8321040" y="3566160"/>
            <a:ext cx="3200400" cy="22860"/>
          </a:xfrm>
          <a:prstGeom prst="rect">
            <a:avLst/>
          </a:prstGeom>
          <a:solidFill>
            <a:srgbClr val="E02020"/>
          </a:solidFill>
          <a:ln cap="flat" cmpd="sng" w="9525">
            <a:solidFill>
              <a:srgbClr val="E0202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 txBox="1"/>
          <p:nvPr/>
        </p:nvSpPr>
        <p:spPr>
          <a:xfrm>
            <a:off x="8321040" y="3593591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Aleatorio (0.50)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9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7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6B63"/>
          </a:solidFill>
          <a:ln cap="flat" cmpd="sng" w="9525">
            <a:solidFill>
              <a:srgbClr val="006B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 txBox="1"/>
          <p:nvPr/>
        </p:nvSpPr>
        <p:spPr>
          <a:xfrm>
            <a:off x="411480" y="20116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Interpretación y Aplicación al Negocio</a:t>
            </a:r>
            <a:endParaRPr/>
          </a:p>
        </p:txBody>
      </p:sp>
      <p:sp>
        <p:nvSpPr>
          <p:cNvPr id="328" name="Google Shape;328;p7"/>
          <p:cNvSpPr txBox="1"/>
          <p:nvPr/>
        </p:nvSpPr>
        <p:spPr>
          <a:xfrm>
            <a:off x="411480" y="658368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E8B004"/>
                </a:solidFill>
                <a:latin typeface="Calibri"/>
                <a:ea typeface="Calibri"/>
                <a:cs typeface="Calibri"/>
                <a:sym typeface="Calibri"/>
              </a:rPr>
              <a:t>UNIVERSIDAD CAECE  ·  Minería de Datos  ·  2026</a:t>
            </a:r>
            <a:endParaRPr/>
          </a:p>
        </p:txBody>
      </p:sp>
      <p:sp>
        <p:nvSpPr>
          <p:cNvPr id="329" name="Google Shape;329;p7"/>
          <p:cNvSpPr/>
          <p:nvPr/>
        </p:nvSpPr>
        <p:spPr>
          <a:xfrm>
            <a:off x="274320" y="1234440"/>
            <a:ext cx="5303520" cy="5120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274320" y="1234440"/>
            <a:ext cx="109728" cy="5120640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 txBox="1"/>
          <p:nvPr/>
        </p:nvSpPr>
        <p:spPr>
          <a:xfrm>
            <a:off x="502920" y="1371600"/>
            <a:ext cx="4846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A89C"/>
                </a:solidFill>
                <a:latin typeface="Calibri"/>
                <a:ea typeface="Calibri"/>
                <a:cs typeface="Calibri"/>
                <a:sym typeface="Calibri"/>
              </a:rPr>
              <a:t>Variables Más Relevantes (RF)</a:t>
            </a:r>
            <a:endParaRPr/>
          </a:p>
        </p:txBody>
      </p:sp>
      <p:sp>
        <p:nvSpPr>
          <p:cNvPr id="332" name="Google Shape;332;p7"/>
          <p:cNvSpPr txBox="1"/>
          <p:nvPr/>
        </p:nvSpPr>
        <p:spPr>
          <a:xfrm>
            <a:off x="502920" y="178308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5C7A78"/>
                </a:solidFill>
                <a:latin typeface="Calibri"/>
                <a:ea typeface="Calibri"/>
                <a:cs typeface="Calibri"/>
                <a:sym typeface="Calibri"/>
              </a:rPr>
              <a:t>Importancia por reducción de impureza Gini</a:t>
            </a:r>
            <a:endParaRPr/>
          </a:p>
        </p:txBody>
      </p:sp>
      <p:sp>
        <p:nvSpPr>
          <p:cNvPr id="333" name="Google Shape;333;p7"/>
          <p:cNvSpPr/>
          <p:nvPr/>
        </p:nvSpPr>
        <p:spPr>
          <a:xfrm>
            <a:off x="502920" y="2194560"/>
            <a:ext cx="4389120" cy="384048"/>
          </a:xfrm>
          <a:prstGeom prst="rect">
            <a:avLst/>
          </a:prstGeom>
          <a:solidFill>
            <a:srgbClr val="1A7A4A"/>
          </a:solidFill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502920" y="2194560"/>
            <a:ext cx="4389120" cy="38404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502920" y="2194560"/>
            <a:ext cx="4389120" cy="384048"/>
          </a:xfrm>
          <a:prstGeom prst="rect">
            <a:avLst/>
          </a:prstGeom>
          <a:solidFill>
            <a:srgbClr val="1A7A4A"/>
          </a:solidFill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"/>
          <p:cNvSpPr txBox="1"/>
          <p:nvPr/>
        </p:nvSpPr>
        <p:spPr>
          <a:xfrm>
            <a:off x="566928" y="22677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poutcome_success</a:t>
            </a:r>
            <a:endParaRPr/>
          </a:p>
        </p:txBody>
      </p:sp>
      <p:sp>
        <p:nvSpPr>
          <p:cNvPr id="337" name="Google Shape;337;p7"/>
          <p:cNvSpPr txBox="1"/>
          <p:nvPr/>
        </p:nvSpPr>
        <p:spPr>
          <a:xfrm>
            <a:off x="4831828" y="2267712"/>
            <a:ext cx="548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22%</a:t>
            </a:r>
            <a:endParaRPr/>
          </a:p>
        </p:txBody>
      </p:sp>
      <p:sp>
        <p:nvSpPr>
          <p:cNvPr id="338" name="Google Shape;338;p7"/>
          <p:cNvSpPr/>
          <p:nvPr/>
        </p:nvSpPr>
        <p:spPr>
          <a:xfrm>
            <a:off x="502920" y="2651760"/>
            <a:ext cx="3192087" cy="384048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502920" y="2651760"/>
            <a:ext cx="4389120" cy="38404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502920" y="2651760"/>
            <a:ext cx="3192087" cy="384048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7"/>
          <p:cNvSpPr txBox="1"/>
          <p:nvPr/>
        </p:nvSpPr>
        <p:spPr>
          <a:xfrm>
            <a:off x="566928" y="27249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balance</a:t>
            </a:r>
            <a:endParaRPr/>
          </a:p>
        </p:txBody>
      </p:sp>
      <p:sp>
        <p:nvSpPr>
          <p:cNvPr id="342" name="Google Shape;342;p7"/>
          <p:cNvSpPr txBox="1"/>
          <p:nvPr/>
        </p:nvSpPr>
        <p:spPr>
          <a:xfrm>
            <a:off x="4831828" y="2724912"/>
            <a:ext cx="548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A89C"/>
                </a:solidFill>
                <a:latin typeface="Calibri"/>
                <a:ea typeface="Calibri"/>
                <a:cs typeface="Calibri"/>
                <a:sym typeface="Calibri"/>
              </a:rPr>
              <a:t>16%</a:t>
            </a:r>
            <a:endParaRPr/>
          </a:p>
        </p:txBody>
      </p:sp>
      <p:sp>
        <p:nvSpPr>
          <p:cNvPr id="343" name="Google Shape;343;p7"/>
          <p:cNvSpPr/>
          <p:nvPr/>
        </p:nvSpPr>
        <p:spPr>
          <a:xfrm>
            <a:off x="502920" y="3108960"/>
            <a:ext cx="2194560" cy="384048"/>
          </a:xfrm>
          <a:prstGeom prst="rect">
            <a:avLst/>
          </a:prstGeom>
          <a:solidFill>
            <a:srgbClr val="006B63"/>
          </a:solidFill>
          <a:ln cap="flat" cmpd="sng" w="9525">
            <a:solidFill>
              <a:srgbClr val="006B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502920" y="3108960"/>
            <a:ext cx="4389120" cy="38404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502920" y="3108960"/>
            <a:ext cx="2194560" cy="384048"/>
          </a:xfrm>
          <a:prstGeom prst="rect">
            <a:avLst/>
          </a:prstGeom>
          <a:solidFill>
            <a:srgbClr val="006B63"/>
          </a:solidFill>
          <a:ln cap="flat" cmpd="sng" w="9525">
            <a:solidFill>
              <a:srgbClr val="006B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"/>
          <p:cNvSpPr txBox="1"/>
          <p:nvPr/>
        </p:nvSpPr>
        <p:spPr>
          <a:xfrm>
            <a:off x="566928" y="31821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month_mar</a:t>
            </a:r>
            <a:endParaRPr/>
          </a:p>
        </p:txBody>
      </p:sp>
      <p:sp>
        <p:nvSpPr>
          <p:cNvPr id="347" name="Google Shape;347;p7"/>
          <p:cNvSpPr txBox="1"/>
          <p:nvPr/>
        </p:nvSpPr>
        <p:spPr>
          <a:xfrm>
            <a:off x="4831828" y="3182112"/>
            <a:ext cx="548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11%</a:t>
            </a:r>
            <a:endParaRPr/>
          </a:p>
        </p:txBody>
      </p:sp>
      <p:sp>
        <p:nvSpPr>
          <p:cNvPr id="348" name="Google Shape;348;p7"/>
          <p:cNvSpPr/>
          <p:nvPr/>
        </p:nvSpPr>
        <p:spPr>
          <a:xfrm>
            <a:off x="502920" y="3566160"/>
            <a:ext cx="1795549" cy="384048"/>
          </a:xfrm>
          <a:prstGeom prst="rect">
            <a:avLst/>
          </a:prstGeom>
          <a:solidFill>
            <a:srgbClr val="00877D"/>
          </a:solidFill>
          <a:ln cap="flat" cmpd="sng" w="9525">
            <a:solidFill>
              <a:srgbClr val="00877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502920" y="3566160"/>
            <a:ext cx="4389120" cy="38404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502920" y="3566160"/>
            <a:ext cx="1795549" cy="384048"/>
          </a:xfrm>
          <a:prstGeom prst="rect">
            <a:avLst/>
          </a:prstGeom>
          <a:solidFill>
            <a:srgbClr val="00877D"/>
          </a:solidFill>
          <a:ln cap="flat" cmpd="sng" w="9525">
            <a:solidFill>
              <a:srgbClr val="00877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"/>
          <p:cNvSpPr txBox="1"/>
          <p:nvPr/>
        </p:nvSpPr>
        <p:spPr>
          <a:xfrm>
            <a:off x="566928" y="36393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month_oct</a:t>
            </a:r>
            <a:endParaRPr/>
          </a:p>
        </p:txBody>
      </p:sp>
      <p:sp>
        <p:nvSpPr>
          <p:cNvPr id="352" name="Google Shape;352;p7"/>
          <p:cNvSpPr txBox="1"/>
          <p:nvPr/>
        </p:nvSpPr>
        <p:spPr>
          <a:xfrm>
            <a:off x="4831828" y="3639312"/>
            <a:ext cx="548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877D"/>
                </a:solidFill>
                <a:latin typeface="Calibri"/>
                <a:ea typeface="Calibri"/>
                <a:cs typeface="Calibri"/>
                <a:sym typeface="Calibri"/>
              </a:rPr>
              <a:t>9%</a:t>
            </a:r>
            <a:endParaRPr/>
          </a:p>
        </p:txBody>
      </p:sp>
      <p:sp>
        <p:nvSpPr>
          <p:cNvPr id="353" name="Google Shape;353;p7"/>
          <p:cNvSpPr/>
          <p:nvPr/>
        </p:nvSpPr>
        <p:spPr>
          <a:xfrm>
            <a:off x="502920" y="4023360"/>
            <a:ext cx="1596043" cy="384048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502920" y="4023360"/>
            <a:ext cx="4389120" cy="38404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502920" y="4023360"/>
            <a:ext cx="1596043" cy="384048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 txBox="1"/>
          <p:nvPr/>
        </p:nvSpPr>
        <p:spPr>
          <a:xfrm>
            <a:off x="566928" y="40965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contact_cellular</a:t>
            </a:r>
            <a:endParaRPr/>
          </a:p>
        </p:txBody>
      </p:sp>
      <p:sp>
        <p:nvSpPr>
          <p:cNvPr id="357" name="Google Shape;357;p7"/>
          <p:cNvSpPr txBox="1"/>
          <p:nvPr/>
        </p:nvSpPr>
        <p:spPr>
          <a:xfrm>
            <a:off x="4831828" y="4096512"/>
            <a:ext cx="548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A89C"/>
                </a:solidFill>
                <a:latin typeface="Calibri"/>
                <a:ea typeface="Calibri"/>
                <a:cs typeface="Calibri"/>
                <a:sym typeface="Calibri"/>
              </a:rPr>
              <a:t>8%</a:t>
            </a:r>
            <a:endParaRPr/>
          </a:p>
        </p:txBody>
      </p:sp>
      <p:sp>
        <p:nvSpPr>
          <p:cNvPr id="358" name="Google Shape;358;p7"/>
          <p:cNvSpPr/>
          <p:nvPr/>
        </p:nvSpPr>
        <p:spPr>
          <a:xfrm>
            <a:off x="502920" y="4480560"/>
            <a:ext cx="1396538" cy="384048"/>
          </a:xfrm>
          <a:prstGeom prst="rect">
            <a:avLst/>
          </a:prstGeom>
          <a:solidFill>
            <a:srgbClr val="5C7A78"/>
          </a:solidFill>
          <a:ln cap="flat" cmpd="sng" w="9525">
            <a:solidFill>
              <a:srgbClr val="5C7A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502920" y="4480560"/>
            <a:ext cx="4389120" cy="38404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502920" y="4480560"/>
            <a:ext cx="1396538" cy="384048"/>
          </a:xfrm>
          <a:prstGeom prst="rect">
            <a:avLst/>
          </a:prstGeom>
          <a:solidFill>
            <a:srgbClr val="5C7A78"/>
          </a:solidFill>
          <a:ln cap="flat" cmpd="sng" w="9525">
            <a:solidFill>
              <a:srgbClr val="5C7A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 txBox="1"/>
          <p:nvPr/>
        </p:nvSpPr>
        <p:spPr>
          <a:xfrm>
            <a:off x="566928" y="45537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/>
          </a:p>
        </p:txBody>
      </p:sp>
      <p:sp>
        <p:nvSpPr>
          <p:cNvPr id="362" name="Google Shape;362;p7"/>
          <p:cNvSpPr txBox="1"/>
          <p:nvPr/>
        </p:nvSpPr>
        <p:spPr>
          <a:xfrm>
            <a:off x="4831828" y="4553712"/>
            <a:ext cx="548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7A78"/>
                </a:solidFill>
                <a:latin typeface="Calibri"/>
                <a:ea typeface="Calibri"/>
                <a:cs typeface="Calibri"/>
                <a:sym typeface="Calibri"/>
              </a:rPr>
              <a:t>7%</a:t>
            </a:r>
            <a:endParaRPr/>
          </a:p>
        </p:txBody>
      </p:sp>
      <p:sp>
        <p:nvSpPr>
          <p:cNvPr id="363" name="Google Shape;363;p7"/>
          <p:cNvSpPr/>
          <p:nvPr/>
        </p:nvSpPr>
        <p:spPr>
          <a:xfrm>
            <a:off x="502920" y="4937760"/>
            <a:ext cx="1197032" cy="384048"/>
          </a:xfrm>
          <a:prstGeom prst="rect">
            <a:avLst/>
          </a:prstGeom>
          <a:solidFill>
            <a:srgbClr val="5C7A78"/>
          </a:solidFill>
          <a:ln cap="flat" cmpd="sng" w="9525">
            <a:solidFill>
              <a:srgbClr val="5C7A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502920" y="4937760"/>
            <a:ext cx="4389120" cy="38404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7"/>
          <p:cNvSpPr/>
          <p:nvPr/>
        </p:nvSpPr>
        <p:spPr>
          <a:xfrm>
            <a:off x="502920" y="4937760"/>
            <a:ext cx="1197032" cy="384048"/>
          </a:xfrm>
          <a:prstGeom prst="rect">
            <a:avLst/>
          </a:prstGeom>
          <a:solidFill>
            <a:srgbClr val="5C7A78"/>
          </a:solidFill>
          <a:ln cap="flat" cmpd="sng" w="9525">
            <a:solidFill>
              <a:srgbClr val="5C7A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 txBox="1"/>
          <p:nvPr/>
        </p:nvSpPr>
        <p:spPr>
          <a:xfrm>
            <a:off x="566928" y="50109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campaign</a:t>
            </a:r>
            <a:endParaRPr/>
          </a:p>
        </p:txBody>
      </p:sp>
      <p:sp>
        <p:nvSpPr>
          <p:cNvPr id="367" name="Google Shape;367;p7"/>
          <p:cNvSpPr txBox="1"/>
          <p:nvPr/>
        </p:nvSpPr>
        <p:spPr>
          <a:xfrm>
            <a:off x="4831828" y="5010912"/>
            <a:ext cx="548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7A78"/>
                </a:solidFill>
                <a:latin typeface="Calibri"/>
                <a:ea typeface="Calibri"/>
                <a:cs typeface="Calibri"/>
                <a:sym typeface="Calibri"/>
              </a:rPr>
              <a:t>6%</a:t>
            </a:r>
            <a:endParaRPr/>
          </a:p>
        </p:txBody>
      </p:sp>
      <p:sp>
        <p:nvSpPr>
          <p:cNvPr id="368" name="Google Shape;368;p7"/>
          <p:cNvSpPr/>
          <p:nvPr/>
        </p:nvSpPr>
        <p:spPr>
          <a:xfrm>
            <a:off x="5943600" y="1234440"/>
            <a:ext cx="5925312" cy="5120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5943600" y="1234440"/>
            <a:ext cx="109728" cy="5120640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 txBox="1"/>
          <p:nvPr/>
        </p:nvSpPr>
        <p:spPr>
          <a:xfrm>
            <a:off x="6172200" y="137160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B004"/>
                </a:solidFill>
                <a:latin typeface="Calibri"/>
                <a:ea typeface="Calibri"/>
                <a:cs typeface="Calibri"/>
                <a:sym typeface="Calibri"/>
              </a:rPr>
              <a:t>Aplicación al Negocio</a:t>
            </a:r>
            <a:endParaRPr/>
          </a:p>
        </p:txBody>
      </p:sp>
      <p:sp>
        <p:nvSpPr>
          <p:cNvPr id="371" name="Google Shape;371;p7"/>
          <p:cNvSpPr/>
          <p:nvPr/>
        </p:nvSpPr>
        <p:spPr>
          <a:xfrm>
            <a:off x="6172200" y="1920240"/>
            <a:ext cx="5394960" cy="1024128"/>
          </a:xfrm>
          <a:prstGeom prst="rect">
            <a:avLst/>
          </a:prstGeom>
          <a:solidFill>
            <a:srgbClr val="F0FAF9"/>
          </a:solidFill>
          <a:ln cap="flat" cmpd="sng" w="9525">
            <a:solidFill>
              <a:srgbClr val="F0FA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6172200" y="1920240"/>
            <a:ext cx="73152" cy="1024128"/>
          </a:xfrm>
          <a:prstGeom prst="rect">
            <a:avLst/>
          </a:prstGeom>
          <a:solidFill>
            <a:srgbClr val="1A7A4A"/>
          </a:solidFill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 txBox="1"/>
          <p:nvPr/>
        </p:nvSpPr>
        <p:spPr>
          <a:xfrm>
            <a:off x="6400800" y="1975104"/>
            <a:ext cx="4937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Sistema de Scoring</a:t>
            </a:r>
            <a:endParaRPr/>
          </a:p>
        </p:txBody>
      </p:sp>
      <p:sp>
        <p:nvSpPr>
          <p:cNvPr id="374" name="Google Shape;374;p7"/>
          <p:cNvSpPr txBox="1"/>
          <p:nvPr/>
        </p:nvSpPr>
        <p:spPr>
          <a:xfrm>
            <a:off x="6400800" y="2286000"/>
            <a:ext cx="4937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Asignar un score de probabilidad 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conversión a cada contacto antes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de la llamada.</a:t>
            </a:r>
            <a:endParaRPr/>
          </a:p>
        </p:txBody>
      </p:sp>
      <p:sp>
        <p:nvSpPr>
          <p:cNvPr id="375" name="Google Shape;375;p7"/>
          <p:cNvSpPr/>
          <p:nvPr/>
        </p:nvSpPr>
        <p:spPr>
          <a:xfrm>
            <a:off x="6172200" y="3035808"/>
            <a:ext cx="5394960" cy="1024128"/>
          </a:xfrm>
          <a:prstGeom prst="rect">
            <a:avLst/>
          </a:prstGeom>
          <a:solidFill>
            <a:srgbClr val="F0FAF9"/>
          </a:solidFill>
          <a:ln cap="flat" cmpd="sng" w="9525">
            <a:solidFill>
              <a:srgbClr val="F0FA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6172200" y="3035808"/>
            <a:ext cx="73152" cy="1024128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 txBox="1"/>
          <p:nvPr/>
        </p:nvSpPr>
        <p:spPr>
          <a:xfrm>
            <a:off x="6400800" y="3090672"/>
            <a:ext cx="4937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A89C"/>
                </a:solidFill>
                <a:latin typeface="Calibri"/>
                <a:ea typeface="Calibri"/>
                <a:cs typeface="Calibri"/>
                <a:sym typeface="Calibri"/>
              </a:rPr>
              <a:t>Priorización de Llamadas</a:t>
            </a:r>
            <a:endParaRPr/>
          </a:p>
        </p:txBody>
      </p:sp>
      <p:sp>
        <p:nvSpPr>
          <p:cNvPr id="378" name="Google Shape;378;p7"/>
          <p:cNvSpPr txBox="1"/>
          <p:nvPr/>
        </p:nvSpPr>
        <p:spPr>
          <a:xfrm>
            <a:off x="6400800" y="3401568"/>
            <a:ext cx="4937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El centro de contacto llama primero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a los prospectos con score &gt;0.5,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optimizando el presupuesto.</a:t>
            </a:r>
            <a:endParaRPr/>
          </a:p>
        </p:txBody>
      </p:sp>
      <p:sp>
        <p:nvSpPr>
          <p:cNvPr id="379" name="Google Shape;379;p7"/>
          <p:cNvSpPr/>
          <p:nvPr/>
        </p:nvSpPr>
        <p:spPr>
          <a:xfrm>
            <a:off x="6172200" y="4151376"/>
            <a:ext cx="5394960" cy="1024128"/>
          </a:xfrm>
          <a:prstGeom prst="rect">
            <a:avLst/>
          </a:prstGeom>
          <a:solidFill>
            <a:srgbClr val="F0FAF9"/>
          </a:solidFill>
          <a:ln cap="flat" cmpd="sng" w="9525">
            <a:solidFill>
              <a:srgbClr val="F0FA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7"/>
          <p:cNvSpPr/>
          <p:nvPr/>
        </p:nvSpPr>
        <p:spPr>
          <a:xfrm>
            <a:off x="6172200" y="4151376"/>
            <a:ext cx="73152" cy="1024128"/>
          </a:xfrm>
          <a:prstGeom prst="rect">
            <a:avLst/>
          </a:prstGeom>
          <a:solidFill>
            <a:srgbClr val="006B63"/>
          </a:solidFill>
          <a:ln cap="flat" cmpd="sng" w="9525">
            <a:solidFill>
              <a:srgbClr val="006B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7"/>
          <p:cNvSpPr txBox="1"/>
          <p:nvPr/>
        </p:nvSpPr>
        <p:spPr>
          <a:xfrm>
            <a:off x="6400800" y="4206240"/>
            <a:ext cx="4937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6B63"/>
                </a:solidFill>
                <a:latin typeface="Calibri"/>
                <a:ea typeface="Calibri"/>
                <a:cs typeface="Calibri"/>
                <a:sym typeface="Calibri"/>
              </a:rPr>
              <a:t>Reducción de Costos</a:t>
            </a:r>
            <a:endParaRPr/>
          </a:p>
        </p:txBody>
      </p:sp>
      <p:sp>
        <p:nvSpPr>
          <p:cNvPr id="382" name="Google Shape;382;p7"/>
          <p:cNvSpPr txBox="1"/>
          <p:nvPr/>
        </p:nvSpPr>
        <p:spPr>
          <a:xfrm>
            <a:off x="6400800" y="4517136"/>
            <a:ext cx="4937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Menor cantidad de llamadas 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clientes refractarios → eficiencia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operativa medible.</a:t>
            </a:r>
            <a:endParaRPr/>
          </a:p>
        </p:txBody>
      </p:sp>
      <p:sp>
        <p:nvSpPr>
          <p:cNvPr id="383" name="Google Shape;383;p7"/>
          <p:cNvSpPr/>
          <p:nvPr/>
        </p:nvSpPr>
        <p:spPr>
          <a:xfrm>
            <a:off x="6172200" y="5266944"/>
            <a:ext cx="5394960" cy="1024128"/>
          </a:xfrm>
          <a:prstGeom prst="rect">
            <a:avLst/>
          </a:prstGeom>
          <a:solidFill>
            <a:srgbClr val="F0FAF9"/>
          </a:solidFill>
          <a:ln cap="flat" cmpd="sng" w="9525">
            <a:solidFill>
              <a:srgbClr val="F0FA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6172200" y="5266944"/>
            <a:ext cx="73152" cy="1024128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7"/>
          <p:cNvSpPr txBox="1"/>
          <p:nvPr/>
        </p:nvSpPr>
        <p:spPr>
          <a:xfrm>
            <a:off x="6400800" y="5321807"/>
            <a:ext cx="4937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Análisis de Errores</a:t>
            </a:r>
            <a:endParaRPr/>
          </a:p>
        </p:txBody>
      </p:sp>
      <p:sp>
        <p:nvSpPr>
          <p:cNvPr id="386" name="Google Shape;386;p7"/>
          <p:cNvSpPr txBox="1"/>
          <p:nvPr/>
        </p:nvSpPr>
        <p:spPr>
          <a:xfrm>
            <a:off x="6400800" y="5632704"/>
            <a:ext cx="4937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Falso Negativo = oportunidad perdida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Falso Positivo = llamada innecesaria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E2D"/>
                </a:solidFill>
                <a:latin typeface="Calibri"/>
                <a:ea typeface="Calibri"/>
                <a:cs typeface="Calibri"/>
                <a:sym typeface="Calibri"/>
              </a:rPr>
              <a:t>Cambio de umbral según costo-beneficio.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B63"/>
          </a:solidFill>
          <a:ln cap="flat" cmpd="sng" w="9525">
            <a:solidFill>
              <a:srgbClr val="006B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8"/>
          <p:cNvSpPr/>
          <p:nvPr/>
        </p:nvSpPr>
        <p:spPr>
          <a:xfrm>
            <a:off x="0" y="91440"/>
            <a:ext cx="411480" cy="6675120"/>
          </a:xfrm>
          <a:prstGeom prst="rect">
            <a:avLst/>
          </a:prstGeom>
          <a:solidFill>
            <a:srgbClr val="151C4E"/>
          </a:solidFill>
          <a:ln cap="flat" cmpd="sng" w="9525">
            <a:solidFill>
              <a:srgbClr val="151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8"/>
          <p:cNvSpPr/>
          <p:nvPr/>
        </p:nvSpPr>
        <p:spPr>
          <a:xfrm>
            <a:off x="411480" y="91440"/>
            <a:ext cx="54864" cy="6675120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8"/>
          <p:cNvSpPr txBox="1"/>
          <p:nvPr/>
        </p:nvSpPr>
        <p:spPr>
          <a:xfrm>
            <a:off x="685800" y="201168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/>
          </a:p>
        </p:txBody>
      </p:sp>
      <p:sp>
        <p:nvSpPr>
          <p:cNvPr id="397" name="Google Shape;397;p8"/>
          <p:cNvSpPr txBox="1"/>
          <p:nvPr/>
        </p:nvSpPr>
        <p:spPr>
          <a:xfrm>
            <a:off x="685800" y="71323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E8B004"/>
                </a:solidFill>
                <a:latin typeface="Calibri"/>
                <a:ea typeface="Calibri"/>
                <a:cs typeface="Calibri"/>
                <a:sym typeface="Calibri"/>
              </a:rPr>
              <a:t>UNIVERSIDAD CAECE  ·  Minería de Datos  ·  2026</a:t>
            </a:r>
            <a:endParaRPr/>
          </a:p>
        </p:txBody>
      </p:sp>
      <p:sp>
        <p:nvSpPr>
          <p:cNvPr id="398" name="Google Shape;398;p8"/>
          <p:cNvSpPr/>
          <p:nvPr/>
        </p:nvSpPr>
        <p:spPr>
          <a:xfrm>
            <a:off x="685800" y="1078992"/>
            <a:ext cx="10515600" cy="36576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8"/>
          <p:cNvSpPr/>
          <p:nvPr/>
        </p:nvSpPr>
        <p:spPr>
          <a:xfrm>
            <a:off x="685800" y="1234440"/>
            <a:ext cx="10515600" cy="1115568"/>
          </a:xfrm>
          <a:prstGeom prst="rect">
            <a:avLst/>
          </a:prstGeom>
          <a:solidFill>
            <a:srgbClr val="151C4E"/>
          </a:solidFill>
          <a:ln cap="flat" cmpd="sng" w="9525">
            <a:solidFill>
              <a:srgbClr val="151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8"/>
          <p:cNvSpPr/>
          <p:nvPr/>
        </p:nvSpPr>
        <p:spPr>
          <a:xfrm>
            <a:off x="685800" y="1234440"/>
            <a:ext cx="91440" cy="1115568"/>
          </a:xfrm>
          <a:prstGeom prst="rect">
            <a:avLst/>
          </a:prstGeom>
          <a:solidFill>
            <a:srgbClr val="1A7A4A"/>
          </a:solidFill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8"/>
          <p:cNvSpPr txBox="1"/>
          <p:nvPr/>
        </p:nvSpPr>
        <p:spPr>
          <a:xfrm>
            <a:off x="914400" y="132588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 Superioridad del Ensamble</a:t>
            </a:r>
            <a:endParaRPr/>
          </a:p>
        </p:txBody>
      </p:sp>
      <p:sp>
        <p:nvSpPr>
          <p:cNvPr id="402" name="Google Shape;402;p8"/>
          <p:cNvSpPr txBox="1"/>
          <p:nvPr/>
        </p:nvSpPr>
        <p:spPr>
          <a:xfrm>
            <a:off x="914400" y="1737360"/>
            <a:ext cx="9875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 (AUC 0.7626) supera al árbol individual (0.7209) en +4pp gracias a la reducción de varianza.</a:t>
            </a:r>
            <a:endParaRPr/>
          </a:p>
        </p:txBody>
      </p:sp>
      <p:sp>
        <p:nvSpPr>
          <p:cNvPr id="403" name="Google Shape;403;p8"/>
          <p:cNvSpPr/>
          <p:nvPr/>
        </p:nvSpPr>
        <p:spPr>
          <a:xfrm>
            <a:off x="685800" y="2468880"/>
            <a:ext cx="10515600" cy="1115568"/>
          </a:xfrm>
          <a:prstGeom prst="rect">
            <a:avLst/>
          </a:prstGeom>
          <a:solidFill>
            <a:srgbClr val="151C4E"/>
          </a:solidFill>
          <a:ln cap="flat" cmpd="sng" w="9525">
            <a:solidFill>
              <a:srgbClr val="151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685800" y="2468880"/>
            <a:ext cx="91440" cy="1115568"/>
          </a:xfrm>
          <a:prstGeom prst="rect">
            <a:avLst/>
          </a:prstGeom>
          <a:solidFill>
            <a:srgbClr val="00A89C"/>
          </a:solidFill>
          <a:ln cap="flat" cmpd="sng" w="9525">
            <a:solidFill>
              <a:srgbClr val="00A8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8"/>
          <p:cNvSpPr txBox="1"/>
          <p:nvPr/>
        </p:nvSpPr>
        <p:spPr>
          <a:xfrm>
            <a:off x="914400" y="256032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A89C"/>
                </a:solidFill>
                <a:latin typeface="Calibri"/>
                <a:ea typeface="Calibri"/>
                <a:cs typeface="Calibri"/>
                <a:sym typeface="Calibri"/>
              </a:rPr>
              <a:t>✓ Protección del Pipeline</a:t>
            </a:r>
            <a:endParaRPr/>
          </a:p>
        </p:txBody>
      </p:sp>
      <p:sp>
        <p:nvSpPr>
          <p:cNvPr id="406" name="Google Shape;406;p8"/>
          <p:cNvSpPr txBox="1"/>
          <p:nvPr/>
        </p:nvSpPr>
        <p:spPr>
          <a:xfrm>
            <a:off x="914400" y="2971800"/>
            <a:ext cx="9875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Eliminación de duration eliminó el riesgo de data leakage, garantizando validez en producción.</a:t>
            </a:r>
            <a:endParaRPr/>
          </a:p>
        </p:txBody>
      </p:sp>
      <p:sp>
        <p:nvSpPr>
          <p:cNvPr id="407" name="Google Shape;407;p8"/>
          <p:cNvSpPr/>
          <p:nvPr/>
        </p:nvSpPr>
        <p:spPr>
          <a:xfrm>
            <a:off x="685800" y="3703320"/>
            <a:ext cx="10515600" cy="1115568"/>
          </a:xfrm>
          <a:prstGeom prst="rect">
            <a:avLst/>
          </a:prstGeom>
          <a:solidFill>
            <a:srgbClr val="151C4E"/>
          </a:solidFill>
          <a:ln cap="flat" cmpd="sng" w="9525">
            <a:solidFill>
              <a:srgbClr val="151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685800" y="3703320"/>
            <a:ext cx="91440" cy="1115568"/>
          </a:xfrm>
          <a:prstGeom prst="rect">
            <a:avLst/>
          </a:prstGeom>
          <a:solidFill>
            <a:srgbClr val="E8B004"/>
          </a:solidFill>
          <a:ln cap="flat" cmpd="sng" w="9525">
            <a:solidFill>
              <a:srgbClr val="E8B0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8"/>
          <p:cNvSpPr txBox="1"/>
          <p:nvPr/>
        </p:nvSpPr>
        <p:spPr>
          <a:xfrm>
            <a:off x="914400" y="379476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B004"/>
                </a:solidFill>
                <a:latin typeface="Calibri"/>
                <a:ea typeface="Calibri"/>
                <a:cs typeface="Calibri"/>
                <a:sym typeface="Calibri"/>
              </a:rPr>
              <a:t>✓ Manejo del Desbalance</a:t>
            </a:r>
            <a:endParaRPr/>
          </a:p>
        </p:txBody>
      </p:sp>
      <p:sp>
        <p:nvSpPr>
          <p:cNvPr id="410" name="Google Shape;410;p8"/>
          <p:cNvSpPr txBox="1"/>
          <p:nvPr/>
        </p:nvSpPr>
        <p:spPr>
          <a:xfrm>
            <a:off x="914400" y="4206240"/>
            <a:ext cx="9875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class_weight='balanced' permitió incrementar sustancialmente el Recall de la clase minoritaria (Sí).</a:t>
            </a:r>
            <a:endParaRPr/>
          </a:p>
        </p:txBody>
      </p:sp>
      <p:sp>
        <p:nvSpPr>
          <p:cNvPr id="411" name="Google Shape;411;p8"/>
          <p:cNvSpPr/>
          <p:nvPr/>
        </p:nvSpPr>
        <p:spPr>
          <a:xfrm>
            <a:off x="685800" y="4937760"/>
            <a:ext cx="10515600" cy="1115568"/>
          </a:xfrm>
          <a:prstGeom prst="rect">
            <a:avLst/>
          </a:prstGeom>
          <a:solidFill>
            <a:srgbClr val="151C4E"/>
          </a:solidFill>
          <a:ln cap="flat" cmpd="sng" w="9525">
            <a:solidFill>
              <a:srgbClr val="151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685800" y="4937760"/>
            <a:ext cx="91440" cy="1115568"/>
          </a:xfrm>
          <a:prstGeom prst="rect">
            <a:avLst/>
          </a:prstGeom>
          <a:solidFill>
            <a:srgbClr val="B0C4DE"/>
          </a:solidFill>
          <a:ln cap="flat" cmpd="sng" w="9525">
            <a:solidFill>
              <a:srgbClr val="B0C4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8"/>
          <p:cNvSpPr txBox="1"/>
          <p:nvPr/>
        </p:nvSpPr>
        <p:spPr>
          <a:xfrm>
            <a:off x="914400" y="502920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⚠ Limitaciones &amp; Mejoras Futuras</a:t>
            </a:r>
            <a:endParaRPr/>
          </a:p>
        </p:txBody>
      </p:sp>
      <p:sp>
        <p:nvSpPr>
          <p:cNvPr id="414" name="Google Shape;414;p8"/>
          <p:cNvSpPr txBox="1"/>
          <p:nvPr/>
        </p:nvSpPr>
        <p:spPr>
          <a:xfrm>
            <a:off x="914400" y="5440680"/>
            <a:ext cx="9875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validación cruzada (K-Fold) · Sin curva Precision-Recall · Explorar SMOTE/boosting (XGBoost, LightGBM).</a:t>
            </a:r>
            <a:endParaRPr/>
          </a:p>
        </p:txBody>
      </p:sp>
      <p:sp>
        <p:nvSpPr>
          <p:cNvPr id="415" name="Google Shape;415;p8"/>
          <p:cNvSpPr txBox="1"/>
          <p:nvPr/>
        </p:nvSpPr>
        <p:spPr>
          <a:xfrm>
            <a:off x="685800" y="630936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094A8"/>
                </a:solidFill>
                <a:latin typeface="Calibri"/>
                <a:ea typeface="Calibri"/>
                <a:cs typeface="Calibri"/>
                <a:sym typeface="Calibri"/>
              </a:rPr>
              <a:t>Autoras: Lic. Lorena López  ·  Lic. Gisela Poliak    |    Docentes: Lic. Juan Azcurra  ·  Lic. Pablo Paul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