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6" y="548640"/>
            <a:ext cx="2743200" cy="1280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0116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EEAD4"/>
                </a:solidFill>
                <a:latin typeface="Calibri"/>
              </a:rPr>
              <a:t>MINERÍA DE DATOS EMPRESARIALES ·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112745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¿A quién llamar?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749039"/>
            <a:ext cx="94457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BAC8FF"/>
                </a:solidFill>
                <a:latin typeface="Calibri"/>
              </a:rPr>
              <a:t>Un modelo predictivo para la captación de clientes bancarios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5271516" y="4572000"/>
            <a:ext cx="164592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754880"/>
            <a:ext cx="103601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AC8FF"/>
                </a:solidFill>
                <a:latin typeface="Calibri"/>
              </a:rPr>
              <a:t>Lic. Lorena Lopez  ·  Lic. Gisela Poliak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75569"/>
                </a:solidFill>
                <a:latin typeface="Calibri"/>
              </a:rPr>
              <a:t>Universidad CAECE  ·  2026  ·  1er Cuatrimestre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Calibri"/>
              </a:rPr>
              <a:t>01 · El Desafío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El banco desperdicia 88 de cada 100 llamadas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4592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54480"/>
            <a:ext cx="356616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609344"/>
            <a:ext cx="35661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49.732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Clientes en el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Registros históricos de campañas bancarias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55448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79392" y="1609344"/>
            <a:ext cx="35661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691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97706"/>
                </a:solidFill>
                <a:latin typeface="Calibri"/>
              </a:rPr>
              <a:t>~12%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Tasa de conversión actual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2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Solo 1 de cada 8 llamadas termina en venta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01584" y="1554480"/>
            <a:ext cx="356616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1584" y="1609344"/>
            <a:ext cx="3566160" cy="140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691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C2626"/>
                </a:solidFill>
                <a:latin typeface="Calibri"/>
              </a:rPr>
              <a:t>~88%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23042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Llamadas desperdiciadas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4464" y="2560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Tiempo y dinero perdidos en cada campaña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154680"/>
            <a:ext cx="11274552" cy="13716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31927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🎯  La pregunta de este trabajo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657600"/>
            <a:ext cx="107259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¿Podemos predecir a quién llamar y dejar de desperdiciar 88 llamadas de cada 100?
Spoiler: sí podemos — y lo demostramos con datos reales.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Calibri"/>
              </a:rPr>
              <a:t>02 · Los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Conociendo el dataset y sus secretos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4592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08760"/>
            <a:ext cx="2468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600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49.732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756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Registros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508760"/>
            <a:ext cx="2468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1600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0756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Variables predictoras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2468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12%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186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Clase positiva (sí)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2651760"/>
            <a:ext cx="24688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46120" y="27432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E3A8A"/>
                </a:solidFill>
                <a:latin typeface="Calibri"/>
              </a:rPr>
              <a:t>88%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21868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Clase negativa (no)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77840" y="1508760"/>
            <a:ext cx="6245352" cy="5166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600200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Hallazgos en los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057400"/>
            <a:ext cx="5879592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  <a:latin typeface="Calibri"/>
              </a:rPr>
              <a:t>→ Faltantes como "unknown" — no son nulos reales, son información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  <a:latin typeface="Calibri"/>
              </a:rPr>
              <a:t>→ Clase muy desbalanceada: 88% negativa — el Accuracy engaña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  <a:latin typeface="Calibri"/>
              </a:rPr>
              <a:t>→ Variables mixtas: numéricas (age, balance) y categóricas (job, education)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E293B"/>
                </a:solidFill>
                <a:latin typeface="Calibri"/>
              </a:rPr>
              <a:t>→ Con datos desbalanceados, la métrica clave es AUC, no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Calibri"/>
              </a:rPr>
              <a:t>03 · La Trampa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Data Leakage: el predictor perfecto... e inútil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4592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08760"/>
            <a:ext cx="11274552" cy="9144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087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92400E"/>
                </a:solidFill>
                <a:latin typeface="Calibri"/>
              </a:rPr>
              <a:t>⚠  Variable "duration": solo se conoce DESPUÉS de hacer la llamada.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92808"/>
            <a:ext cx="109087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350F"/>
                </a:solidFill>
                <a:latin typeface="Calibri"/>
              </a:rPr>
              <a:t>Usarla sería predecir el futuro con información del futuro. Decisión: eliminarla del modelo.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47572" y="26060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9012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Dataset
original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9012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17 vars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6956" y="274320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40964" y="2606040"/>
            <a:ext cx="1920240" cy="8229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32404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Calibri"/>
              </a:rPr>
              <a:t>❌ Eliminar
duration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32404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Data leakage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0348" y="274320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34356" y="26060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5796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División
70 / 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5796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Stratify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3740" y="274320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27748" y="2606040"/>
            <a:ext cx="192024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9188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E3A8A"/>
                </a:solidFill>
                <a:latin typeface="Calibri"/>
              </a:rPr>
              <a:t>One-Hot
Encoding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19188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Categóricas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7132" y="2743200"/>
            <a:ext cx="118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D9488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21140" y="2606040"/>
            <a:ext cx="1920240" cy="82296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1258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Calibri"/>
              </a:rPr>
              <a:t>✅ Modelo
listo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2580" y="3063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75569"/>
                </a:solidFill>
                <a:latin typeface="Calibri"/>
              </a:rPr>
              <a:t>Honesto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356616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666744"/>
            <a:ext cx="3566160" cy="1179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749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D9488"/>
                </a:solidFill>
                <a:latin typeface="Calibri"/>
              </a:rPr>
              <a:t>70%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4361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Conjunto de entrenamiento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Stratify para mantener proporción de clases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96512" y="3611880"/>
            <a:ext cx="3566160" cy="5486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96512" y="3666744"/>
            <a:ext cx="3566160" cy="1179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79392" y="3749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E3A8A"/>
                </a:solidFill>
                <a:latin typeface="Calibri"/>
              </a:rPr>
              <a:t>30%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4361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Conjunto de prueba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79392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Nunca visto durante el entrenamiento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35824" y="3611880"/>
            <a:ext cx="3566160" cy="5486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35824" y="3666744"/>
            <a:ext cx="3566160" cy="1179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18704" y="3749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D97706"/>
                </a:solidFill>
                <a:latin typeface="Calibri"/>
              </a:rPr>
              <a:t>+40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18704" y="436168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75569"/>
                </a:solidFill>
                <a:latin typeface="Calibri"/>
              </a:rPr>
              <a:t>Variables tras One-Hot Enc.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18704" y="4617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Sin orden artificial entre categorías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Calibri"/>
              </a:rPr>
              <a:t>04 · Los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Dos modelos, una estrategia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4592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08760"/>
            <a:ext cx="554583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5545836" cy="7315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18488"/>
            <a:ext cx="51800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🌳 CART — Árbol de decisión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84248"/>
            <a:ext cx="5180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Modelo controlado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52715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Sin restricciones → 100% accuracy (overfitting): memorizó en vez de aprender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Solución: limitar profundidad y exigir suficientes ejemplos por hoja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class_weight='balanced' para atender la clase minoritaria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52715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9488"/>
                </a:solidFill>
                <a:latin typeface="Calibri"/>
              </a:rPr>
              <a:t>max_depth=5  min_samples_leaf=20  class_weight='balanced'  random_state=42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85916" y="1508760"/>
            <a:ext cx="5545836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85916" y="1508760"/>
            <a:ext cx="5545836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8796" y="1618488"/>
            <a:ext cx="51800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E3A8A"/>
                </a:solidFill>
                <a:latin typeface="Calibri"/>
              </a:rPr>
              <a:t>🌲 Random Forest — Ensemble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8796" y="1984248"/>
            <a:ext cx="51800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100 árboles, mismos hiperparámetros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3076" y="2240280"/>
            <a:ext cx="52715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Consulta a 100 árboles y promedia sus votos — 100 segundas opiniones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Reduce overfitting al promediar árboles con distintas submuestras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Mismos hiperparámetros que CART para comparación justa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3076" y="3474720"/>
            <a:ext cx="52715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9488"/>
                </a:solidFill>
                <a:latin typeface="Calibri"/>
              </a:rPr>
              <a:t>n_estimators=100  max_depth=5  min_samples_leaf=20  class_weight='balanced'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51960"/>
            <a:ext cx="11274552" cy="914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416552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¿Por qué class_weight='balanced'?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754880"/>
            <a:ext cx="10725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Con solo el 12% de positivos el modelo tiende a ignorar esa clase. El peso forzado hace que preste atención a los clientes que sí convierten — exactamente los que nos interesan.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Calibri"/>
              </a:rPr>
              <a:t>05 ·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¿Qué tan buenos son los modelos?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4592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1554480"/>
            <a:ext cx="5486400" cy="47548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64208"/>
            <a:ext cx="2057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Métrica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664208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🌳 CART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664208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Calibri"/>
              </a:rPr>
              <a:t>🌲 Random Forest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29968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39696"/>
            <a:ext cx="2057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Accuracy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39696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0.73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139696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0.73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05456"/>
            <a:ext cx="5486400" cy="475488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615184"/>
            <a:ext cx="2057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AUC-ROC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615184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0.76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15184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6A34A"/>
                </a:solidFill>
                <a:latin typeface="Calibri"/>
              </a:rPr>
              <a:t>0.79  ✓ Mejor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80944"/>
            <a:ext cx="5486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090672"/>
            <a:ext cx="205740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293B"/>
                </a:solidFill>
                <a:latin typeface="Calibri"/>
              </a:rPr>
              <a:t>Recall (clase sí)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090672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~60%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090672"/>
            <a:ext cx="15087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E293B"/>
                </a:solidFill>
                <a:latin typeface="Calibri"/>
              </a:rPr>
              <a:t>~62%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639312"/>
            <a:ext cx="5486400" cy="9601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639312"/>
            <a:ext cx="64008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7033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2400E"/>
                </a:solidFill>
                <a:latin typeface="Calibri"/>
              </a:rPr>
              <a:t>📊  ¿Por qué el Accuracy engaña?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00507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350F"/>
                </a:solidFill>
                <a:latin typeface="Calibri"/>
              </a:rPr>
              <a:t>Un modelo que siempre diga 'no convierte' tendría 88% de accuracy. El AUC mide la verdadera capacidad de discriminación.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554480"/>
            <a:ext cx="5696712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1645920"/>
            <a:ext cx="5330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🏆  Random Forest gana en AUC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039112"/>
            <a:ext cx="54223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AUC 0.79 vs 0.76 del CART — mejora consistente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El ensemble promedia árboles distintos reduciendo el error por varianza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Variable más importante: poutcome (campaña anterior)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611880"/>
            <a:ext cx="5696712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776472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AUC 0.79 → usable en producción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11480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Por cada par de clientes (sí/no), el modelo ordena bien 79 de 100. Suficiente para priorizar llamadas en una campaña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EEAD4"/>
                </a:solidFill>
                <a:latin typeface="Calibri"/>
              </a:rPr>
              <a:t>06 · Impacto y 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93268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Respuesta: sí podemos — y los números lo prueban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56235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cae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8712" y="109728"/>
            <a:ext cx="164592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508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E3A8A"/>
                </a:solidFill>
                <a:latin typeface="Calibri"/>
              </a:rPr>
              <a:t>Con 2.000 llamadas iguales: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011680"/>
            <a:ext cx="2560320" cy="73152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084832"/>
            <a:ext cx="25603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30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📞  Llamando al azar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E3A8A"/>
                </a:solidFill>
                <a:latin typeface="Calibri"/>
              </a:rPr>
              <a:t>~234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108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conversiones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2011680"/>
            <a:ext cx="2560320" cy="731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084832"/>
            <a:ext cx="2560320" cy="1481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2130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475569"/>
                </a:solidFill>
                <a:latin typeface="Calibri"/>
              </a:rPr>
              <a:t>🤖  Con el modelo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42316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16A34A"/>
                </a:solidFill>
                <a:latin typeface="Calibri"/>
              </a:rPr>
              <a:t>~805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31089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Calibri"/>
              </a:rPr>
              <a:t>conversiones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749040"/>
            <a:ext cx="5486400" cy="10058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91363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+244% de conversiones con el mismo presupuesto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519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El modelo triplicó los resultados de la campaña sin agregar una sola llamada adicional.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508760"/>
            <a:ext cx="5513832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64592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✅  Lo que aprendimos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011680"/>
            <a:ext cx="5239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Overfitting y data leakage son los primeros enemigos a vencer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Con datos desbalanceados: AUC &gt; Accuracy como métrica clave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Random Forest supera a CART de forma consistente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3429000"/>
            <a:ext cx="5513832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5148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E3A8A"/>
                </a:solidFill>
                <a:latin typeface="Calibri"/>
              </a:rPr>
              <a:t>🔮  Trabajo futuro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31920"/>
            <a:ext cx="52395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Probar XGBoost y LightGBM con validación cruzada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Ajuste fino de hiperparámetros (GridSearchCV)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E293B"/>
                </a:solidFill>
                <a:latin typeface="Calibri"/>
              </a:rPr>
              <a:t>→ Análisis de ROI por segmento de clientes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